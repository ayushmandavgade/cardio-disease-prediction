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630AB-5509-4802-ACFC-14FAC1D004F0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9985C-5E54-46BB-BBBC-831CD5392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6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9985C-5E54-46BB-BBBC-831CD5392A3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5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680960" y="411480"/>
            <a:ext cx="3749039" cy="3749039"/>
          </a:xfrm>
          <a:prstGeom prst="ellipse">
            <a:avLst/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21040" y="1024128"/>
            <a:ext cx="2514600" cy="2514600"/>
          </a:xfrm>
          <a:prstGeom prst="ellipse">
            <a:avLst/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7315200" y="2788920"/>
            <a:ext cx="502920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818120" y="2450592"/>
            <a:ext cx="256032" cy="338328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74152" y="2450592"/>
            <a:ext cx="320040" cy="795528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94192" y="1691640"/>
            <a:ext cx="320040" cy="155448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14232" y="1691640"/>
            <a:ext cx="338328" cy="128016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052560" y="2788920"/>
            <a:ext cx="274320" cy="18288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2788920"/>
            <a:ext cx="457200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84080" y="2523744"/>
            <a:ext cx="365760" cy="265176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2523744"/>
            <a:ext cx="301752" cy="402336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451592" y="2788920"/>
            <a:ext cx="265176" cy="13716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716768" y="2788920"/>
            <a:ext cx="530352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26679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14232" y="1645920"/>
            <a:ext cx="118872" cy="118872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784080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16768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640080"/>
            <a:ext cx="2331720" cy="310896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" y="653796"/>
            <a:ext cx="2185415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65D5E5"/>
                </a:solidFill>
                <a:latin typeface="Aptos"/>
              </a:rPr>
              <a:t>MACHINE LEARNING  •  HEALTH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298448"/>
            <a:ext cx="6492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Cardiovascular Disease
Prediction Using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035808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6D4E0"/>
                </a:solidFill>
                <a:latin typeface="Aptos"/>
              </a:rPr>
              <a:t>A data-driven screening prototype built from routine health measurements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" y="3931920"/>
            <a:ext cx="5385816" cy="0"/>
          </a:xfrm>
          <a:prstGeom prst="line">
            <a:avLst/>
          </a:prstGeom>
          <a:ln w="12700">
            <a:solidFill>
              <a:srgbClr val="315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4944" y="41605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PROJECT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434840"/>
            <a:ext cx="5303520" cy="456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 dirty="0">
                <a:solidFill>
                  <a:srgbClr val="FFFFFF"/>
                </a:solidFill>
                <a:latin typeface="Aptos"/>
              </a:rPr>
              <a:t>Ayush </a:t>
            </a:r>
            <a:r>
              <a:rPr sz="1400" b="1" i="0" dirty="0" err="1">
                <a:solidFill>
                  <a:srgbClr val="FFFFFF"/>
                </a:solidFill>
                <a:latin typeface="Aptos"/>
              </a:rPr>
              <a:t>Mandavgade</a:t>
            </a:r>
            <a:r>
              <a:rPr sz="1400" b="1" i="0" dirty="0">
                <a:solidFill>
                  <a:srgbClr val="FFFFFF"/>
                </a:solidFill>
                <a:latin typeface="Aptos"/>
              </a:rPr>
              <a:t>  ·  </a:t>
            </a:r>
            <a:r>
              <a:rPr sz="1400" b="1" i="0" dirty="0" err="1">
                <a:solidFill>
                  <a:srgbClr val="FFFFFF"/>
                </a:solidFill>
                <a:latin typeface="Aptos"/>
              </a:rPr>
              <a:t>Apramaya</a:t>
            </a:r>
            <a:r>
              <a:rPr sz="1400" b="1" i="0" dirty="0">
                <a:solidFill>
                  <a:srgbClr val="FFFFFF"/>
                </a:solidFill>
                <a:latin typeface="Aptos"/>
              </a:rPr>
              <a:t> Kumar
</a:t>
            </a:r>
            <a:r>
              <a:rPr sz="1400" b="1" i="0" dirty="0" err="1">
                <a:solidFill>
                  <a:srgbClr val="FFFFFF"/>
                </a:solidFill>
                <a:latin typeface="Aptos"/>
              </a:rPr>
              <a:t>Yashodeep</a:t>
            </a:r>
            <a:r>
              <a:rPr sz="1400" b="1" i="0" dirty="0">
                <a:solidFill>
                  <a:srgbClr val="FFFFFF"/>
                </a:solidFill>
                <a:latin typeface="Aptos"/>
              </a:rPr>
              <a:t> Dube</a:t>
            </a:r>
            <a:r>
              <a:rPr lang="en-US" sz="1400" b="1" i="0" dirty="0">
                <a:solidFill>
                  <a:srgbClr val="FFFFFF"/>
                </a:solidFill>
                <a:latin typeface="Aptos"/>
              </a:rPr>
              <a:t> . Om </a:t>
            </a:r>
            <a:r>
              <a:rPr lang="en-US" sz="1400" b="1" i="0" dirty="0" err="1">
                <a:solidFill>
                  <a:srgbClr val="FFFFFF"/>
                </a:solidFill>
                <a:latin typeface="Aptos"/>
              </a:rPr>
              <a:t>Panchbudhe</a:t>
            </a:r>
            <a:endParaRPr sz="1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" y="519379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FC0D0"/>
                </a:solidFill>
                <a:latin typeface="Aptos"/>
              </a:rPr>
              <a:t>Roll Nos. 36, 37, 44  •  12 October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4023360"/>
            <a:ext cx="1399032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24927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7" y="4169664"/>
            <a:ext cx="11064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70K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4590288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RAW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4023360"/>
            <a:ext cx="1399032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79408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62288" y="4169664"/>
            <a:ext cx="11064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73.7%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590288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TEST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33888" y="4023360"/>
            <a:ext cx="1143000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33888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16767" y="4169664"/>
            <a:ext cx="850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0.802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7" y="4590288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ROC-AUC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53766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D5"/>
                </a:solidFill>
                <a:latin typeface="Aptos"/>
              </a:rPr>
              <a:t>Model comparison  •  Feature analysis  •  Streamlit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632764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8197AB"/>
                </a:solidFill>
                <a:latin typeface="Aptos"/>
              </a:rP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01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Why predict cardiovascular disease risk?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project turns routine health measurements into an estimated risk probability—not a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06464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Health readings are noisy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Blood pressure, age, cholesterol and body measurements can reveal risk patterns, but raw data may contain impossible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7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A99A"/>
                </a:solidFill>
                <a:latin typeface="Aptos"/>
              </a:rPr>
              <a:t>THE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Compare before choosing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Clean the dataset, train multiple classifiers, select on validation ROC-AUC and evaluate once on an untouched test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91856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91856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7FEA"/>
                </a:solidFill>
                <a:latin typeface="Apto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Avoid headline-only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Studies using small or different datasets report very high accuracy. Results on the same 70,000-row dataset are closer to 73%.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343400"/>
            <a:ext cx="10460736" cy="162763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PROJECT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Prepare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Remove invalid records; prevent leakage.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Benchmark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Compare accuracy, precision, recall, F1 and ROC-AUC.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Explain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Identify the features most important to predictions.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Deploy a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Make a browser-based interface for model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Research context: Slime et al. (2024) report ~73% test accuracy on the same Kaggle dataset; Zhou et al. (2024) highlight generalisation and interpretability gaps.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02  /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Dataset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Public Kaggle Cardiovascular Disease dataset with a binary target (`cardio`).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RAW PATIENT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68,523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RECORDS AFTER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13248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6128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≈49.5%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DISEASE POSITIVE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572768"/>
            <a:ext cx="345643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08975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91855" y="1719072"/>
            <a:ext cx="31638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11 + 1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5" y="213969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RAW INPUTS +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5" y="2395728"/>
            <a:ext cx="31638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BMI is engineered for modeling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DEMOGRAPHICS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" y="3730752"/>
            <a:ext cx="82296" cy="82296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Age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4059936"/>
            <a:ext cx="82296" cy="82296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Gender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52928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52928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08376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06464"/>
                </a:solidFill>
                <a:latin typeface="Aptos"/>
              </a:rPr>
              <a:t>BODY MEASURES</a:t>
            </a:r>
          </a:p>
        </p:txBody>
      </p:sp>
      <p:sp>
        <p:nvSpPr>
          <p:cNvPr id="33" name="Oval 32"/>
          <p:cNvSpPr/>
          <p:nvPr/>
        </p:nvSpPr>
        <p:spPr>
          <a:xfrm>
            <a:off x="3017520" y="3730752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Height</a:t>
            </a:r>
          </a:p>
        </p:txBody>
      </p:sp>
      <p:sp>
        <p:nvSpPr>
          <p:cNvPr id="35" name="Oval 34"/>
          <p:cNvSpPr/>
          <p:nvPr/>
        </p:nvSpPr>
        <p:spPr>
          <a:xfrm>
            <a:off x="3017520" y="4059936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0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Weight</a:t>
            </a:r>
          </a:p>
        </p:txBody>
      </p:sp>
      <p:sp>
        <p:nvSpPr>
          <p:cNvPr id="37" name="Oval 36"/>
          <p:cNvSpPr/>
          <p:nvPr/>
        </p:nvSpPr>
        <p:spPr>
          <a:xfrm>
            <a:off x="3017520" y="4389120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4334256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9324D"/>
                </a:solidFill>
                <a:latin typeface="Aptos"/>
              </a:rPr>
              <a:t>BMI*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4064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84064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9512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7FEA"/>
                </a:solidFill>
                <a:latin typeface="Aptos"/>
              </a:rPr>
              <a:t>VITAL SIGNS</a:t>
            </a:r>
          </a:p>
        </p:txBody>
      </p:sp>
      <p:sp>
        <p:nvSpPr>
          <p:cNvPr id="42" name="Oval 41"/>
          <p:cNvSpPr/>
          <p:nvPr/>
        </p:nvSpPr>
        <p:spPr>
          <a:xfrm>
            <a:off x="5248655" y="3730752"/>
            <a:ext cx="82296" cy="82296"/>
          </a:xfrm>
          <a:prstGeom prst="ellipse">
            <a:avLst/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31536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Systolic BP</a:t>
            </a:r>
          </a:p>
        </p:txBody>
      </p:sp>
      <p:sp>
        <p:nvSpPr>
          <p:cNvPr id="44" name="Oval 43"/>
          <p:cNvSpPr/>
          <p:nvPr/>
        </p:nvSpPr>
        <p:spPr>
          <a:xfrm>
            <a:off x="5248655" y="4059936"/>
            <a:ext cx="82296" cy="82296"/>
          </a:xfrm>
          <a:prstGeom prst="ellipse">
            <a:avLst/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31536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Diastolic BP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15200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70648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3C86A"/>
                </a:solidFill>
                <a:latin typeface="Aptos"/>
              </a:rPr>
              <a:t>CLINICAL</a:t>
            </a:r>
          </a:p>
        </p:txBody>
      </p:sp>
      <p:sp>
        <p:nvSpPr>
          <p:cNvPr id="49" name="Oval 48"/>
          <p:cNvSpPr/>
          <p:nvPr/>
        </p:nvSpPr>
        <p:spPr>
          <a:xfrm>
            <a:off x="7479792" y="3730752"/>
            <a:ext cx="82296" cy="82296"/>
          </a:xfrm>
          <a:prstGeom prst="ellipse">
            <a:avLst/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62672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Cholesterol</a:t>
            </a:r>
          </a:p>
        </p:txBody>
      </p:sp>
      <p:sp>
        <p:nvSpPr>
          <p:cNvPr id="51" name="Oval 50"/>
          <p:cNvSpPr/>
          <p:nvPr/>
        </p:nvSpPr>
        <p:spPr>
          <a:xfrm>
            <a:off x="7479792" y="4059936"/>
            <a:ext cx="82296" cy="82296"/>
          </a:xfrm>
          <a:prstGeom prst="ellipse">
            <a:avLst/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62672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Glucose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46336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546336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01784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87E78"/>
                </a:solidFill>
                <a:latin typeface="Aptos"/>
              </a:rPr>
              <a:t>LIFESTYLE</a:t>
            </a:r>
          </a:p>
        </p:txBody>
      </p:sp>
      <p:sp>
        <p:nvSpPr>
          <p:cNvPr id="56" name="Oval 55"/>
          <p:cNvSpPr/>
          <p:nvPr/>
        </p:nvSpPr>
        <p:spPr>
          <a:xfrm>
            <a:off x="9710928" y="3730752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93808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Smoking</a:t>
            </a:r>
          </a:p>
        </p:txBody>
      </p:sp>
      <p:sp>
        <p:nvSpPr>
          <p:cNvPr id="58" name="Oval 57"/>
          <p:cNvSpPr/>
          <p:nvPr/>
        </p:nvSpPr>
        <p:spPr>
          <a:xfrm>
            <a:off x="9710928" y="4059936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93808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Alcohol</a:t>
            </a:r>
          </a:p>
        </p:txBody>
      </p:sp>
      <p:sp>
        <p:nvSpPr>
          <p:cNvPr id="60" name="Oval 59"/>
          <p:cNvSpPr/>
          <p:nvPr/>
        </p:nvSpPr>
        <p:spPr>
          <a:xfrm>
            <a:off x="9710928" y="4389120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93808" y="4334256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Activity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5230368"/>
            <a:ext cx="11009376" cy="64008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539496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65376" y="536752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cardio = 1  Disease present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60" y="536752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cardio = 0  No cardiovascular disease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080760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B90"/>
                </a:solidFill>
                <a:latin typeface="Aptos"/>
              </a:rPr>
              <a:t>*BMI = weight (kg) / height (m)². Age is stored in days in the raw file and converted to years for modeling.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03  / 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Data cleaning: retain plausible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raw file had no missing values, but it contained impossible readings and duplicate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3749039" cy="443484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CLEANING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Aptos"/>
              </a:rPr>
              <a:t>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15768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3D1DD"/>
                </a:solidFill>
                <a:latin typeface="Aptos"/>
              </a:rPr>
              <a:t>raw records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1832" y="3127248"/>
            <a:ext cx="3081528" cy="0"/>
          </a:xfrm>
          <a:prstGeom prst="line">
            <a:avLst/>
          </a:prstGeom>
          <a:ln w="12700">
            <a:solidFill>
              <a:srgbClr val="35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1832" y="335584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6464"/>
                </a:solidFill>
                <a:latin typeface="Aptos"/>
              </a:rPr>
              <a:t>−1,477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45643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3D1DD"/>
                </a:solidFill>
                <a:latin typeface="Aptos"/>
              </a:rPr>
              <a:t>2.1%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995928"/>
            <a:ext cx="2907792" cy="146304"/>
          </a:xfrm>
          <a:prstGeom prst="roundRect">
            <a:avLst>
              <a:gd name="adj" fmla="val 16000"/>
            </a:avLst>
          </a:prstGeom>
          <a:solidFill>
            <a:srgbClr val="25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3995928"/>
            <a:ext cx="61063" cy="146304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4439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A99A"/>
                </a:solidFill>
                <a:latin typeface="Aptos"/>
              </a:rPr>
              <a:t>68,523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19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3D1DD"/>
                </a:solidFill>
                <a:latin typeface="Aptos"/>
              </a:rPr>
              <a:t>clean records retained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394960"/>
            <a:ext cx="2377440" cy="274320"/>
          </a:xfrm>
          <a:prstGeom prst="roundRect">
            <a:avLst>
              <a:gd name="adj" fmla="val 16000"/>
            </a:avLst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08676"/>
            <a:ext cx="223113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5D5E5"/>
                </a:solidFill>
                <a:latin typeface="Aptos"/>
              </a:rPr>
              <a:t>STRATIFIED SPLIT · RANDOM STATE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73352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WHAT WAS FIXED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2084831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2258568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A99A"/>
                </a:solidFill>
                <a:latin typeface="Apto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203703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Duplicate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496312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Identical records removed after ignoring the ID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3182111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3355847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6464"/>
                </a:solidFill>
                <a:latin typeface="Aptos"/>
              </a:rPr>
              <a:t>1,329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300983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Blood-pressure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593591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Kept ap_hi 70–250, ap_lo 40–200 and required ap_hi &gt; ap_lo.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4279392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56048" y="4453128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A99A"/>
                </a:solidFill>
                <a:latin typeface="Aptos"/>
              </a:rPr>
              <a:t>124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98264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Body-measure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690872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Applied broad height, weight and BMI plausibility ranges.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36592" y="5532120"/>
            <a:ext cx="6144768" cy="466344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5650992"/>
            <a:ext cx="5742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87E78"/>
                </a:solidFill>
                <a:latin typeface="Aptos"/>
              </a:rPr>
              <a:t>Feature engineering: age → years  •  derive BMI  •  drop ID and raw 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108192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Wide rules preserve severe readings (e.g., 200/120 mmHg) rather than removing them as outliers.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04  /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A leakage-aware 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test set is held back until the final evaluation; validation data selects the winning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RAW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70,000 rows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3347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CLEAN + DERIVE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68,523 rows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0740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371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70 / 15 / 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2764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7395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TRAIN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Core + optional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4788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9419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Pick by ROC-AUC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8408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6812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1443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8758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TEST ONCE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Final metrics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840480"/>
            <a:ext cx="5212080" cy="11521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4050791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STRATIFIED DATA SPLIT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TRAIN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47,966 · 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0591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0591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10,278 · 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10,279 · 15%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08192" y="3840480"/>
            <a:ext cx="5449824" cy="11521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4050791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EVALUATION METRICS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Overall correctness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Precision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35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Reliability of positive flags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Diseased patients detected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003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Precision–recall balance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0587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ROC-AUC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0587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Ranking across cutoffs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330952"/>
            <a:ext cx="10936224" cy="56692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504688"/>
            <a:ext cx="10378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FFFFFF"/>
                </a:solidFill>
                <a:latin typeface="Aptos"/>
              </a:rPr>
              <a:t>Reproducibility: random_state = 42  •  scaling fitted on training data only  •  model selected on validation ROC-AUC (0.8002)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06247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B90"/>
                </a:solidFill>
                <a:latin typeface="Aptos"/>
              </a:rPr>
              <a:t>Models cover linear, distance-based, tree-based, boosted and neural-network approaches.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05  / 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Model comparison: scores are tightly clustered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supplied outputs include seven core models plus XGBoost and LightGBM runs where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27048"/>
            <a:ext cx="6903720" cy="44622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88997"/>
            <a:ext cx="6510528" cy="363778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527048"/>
            <a:ext cx="3749039" cy="446227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7" y="184708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HOW TO READ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2212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Aptos"/>
              </a:rPr>
              <a:t>73–74%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06624"/>
            <a:ext cx="299923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6D4E0"/>
                </a:solidFill>
                <a:latin typeface="Aptos"/>
              </a:rPr>
              <a:t>Accuracy range across the strongest models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0727" y="3227832"/>
            <a:ext cx="3090673" cy="0"/>
          </a:xfrm>
          <a:prstGeom prst="line">
            <a:avLst/>
          </a:prstGeom>
          <a:ln w="12700">
            <a:solidFill>
              <a:srgbClr val="35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0727" y="3447288"/>
            <a:ext cx="3017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Selected: 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3767328"/>
            <a:ext cx="303580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6D4E0"/>
                </a:solidFill>
                <a:latin typeface="Aptos"/>
              </a:rPr>
              <a:t>Validation ROC-AUC = 0.8002 — the winner was selected before checking test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4553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Important distinction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837176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C6D4E0"/>
                </a:solidFill>
                <a:latin typeface="Aptos"/>
              </a:rPr>
              <a:t>XGBoost has the highest test accuracy in the supplied CSV (73.89%), but test scores are for evaluation—not model selection.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667B90"/>
                </a:solidFill>
                <a:latin typeface="Aptos"/>
              </a:rPr>
              <a:t>Source: project outputs/model_comparison.csv. Report text foregrounds the seven core models; this chart includes additional available runs.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06  / 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Gradient Boosting: final held-out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Test set: 10,279 records  •  Model picked using validation ROC-AUC = 0.8002.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73.66%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Correct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75.59%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Positive flags that were 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69.09%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Diseased patients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8855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1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0.8022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1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1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Ranking 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2761488"/>
            <a:ext cx="4791456" cy="3246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95" y="2862072"/>
            <a:ext cx="3143250" cy="30175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650992" y="2761488"/>
            <a:ext cx="5897880" cy="3246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25312" y="299008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Screening trade-off: lowering the cutoff catches more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5312" y="3493008"/>
            <a:ext cx="5321808" cy="38404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Cutoff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Missed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False alarms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0.5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73.7%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69.1%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1,572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7312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1,135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5312" y="4398264"/>
            <a:ext cx="5321808" cy="393192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990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0.4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72.7%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77.6%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1,140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2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1,664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990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68.4%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87.6%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2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2,620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34456" y="5477256"/>
            <a:ext cx="52852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B90"/>
                </a:solidFill>
                <a:latin typeface="Aptos"/>
              </a:rPr>
              <a:t>At cutoff 0.4, recall rises by 8.5 points while accuracy falls by about 1 point.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A model prediction is an estimate; recall, precision and thresholds have different costs depending on the screening setting.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07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What drives the predictions?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Permutation importance measures the drop in validation ROC-AUC when one feature is shuffled.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5715000" cy="4480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2" y="1700784"/>
            <a:ext cx="5050694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93408" y="16642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SIGNALS IN THE CLEANED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48256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0" y="2048256"/>
            <a:ext cx="64008" cy="65836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2139696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133.9 vs 119.6 mmHg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212140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systolic BP: disease vs no disease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889504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0" y="2889504"/>
            <a:ext cx="64008" cy="658368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980944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54.9 vs 51.7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962656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age: disease vs no disease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30752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0" y="3730752"/>
            <a:ext cx="64008" cy="658368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822191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28.4 vs 26.4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803904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BMI: disease vs no disease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681728"/>
            <a:ext cx="4572000" cy="96012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31152" y="488289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65D5E5"/>
                </a:solidFill>
                <a:latin typeface="Aptos"/>
              </a:rPr>
              <a:t>DISEASE SHARE BY CHOLESTEROL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43.6%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59.7%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3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3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76.2%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>
                <a:solidFill>
                  <a:srgbClr val="667B90"/>
                </a:solidFill>
                <a:latin typeface="Aptos"/>
              </a:rPr>
              <a:t>Interpretation: predictive association, not proof of cause. Systolic BP carries around 5–6× the permutation importance of age or cholesterol.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08  / 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Browser-based risk prediction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Streamlit interface: inputs → engineered features → saved model → estimated probability and risk band.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17904"/>
            <a:ext cx="6108192" cy="455371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p_ui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62" y="1673352"/>
            <a:ext cx="5457050" cy="4151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14032" y="162763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USER JOURNEY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2039112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052828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0116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Enter 11 routine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2267712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Age, gender, height/weight, blood pressure, cholesterol, glucose and lifestyle flags.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2843784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85750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81635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Validate and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3072384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Reject systolic BP ≤ diastolic BP; calculate BMI and align columns.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3648456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662172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62102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Get a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877056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Loaded model calls `predict_proba`; probability is shown with a progress bar.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0" y="4453128"/>
            <a:ext cx="347472" cy="347472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6684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442569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Interpret the band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681728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Below 40% = low; 40–60% = moderate; 60% or above = high.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5422392"/>
            <a:ext cx="4160520" cy="557784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33488" y="5596128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87E78"/>
                </a:solidFill>
                <a:latin typeface="Aptos"/>
              </a:rPr>
              <a:t>Run locally:  `python run.py`  •  Streamlit + joblib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667B90"/>
                </a:solidFill>
                <a:latin typeface="Aptos"/>
              </a:rPr>
              <a:t>The report does not include a deployed public URL; the supplied code supports local execution and Streamlit Community Cloud deployment.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09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What the current prototype can—and cannot—claim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Promising as a learning project; not validated for real clinical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81912"/>
            <a:ext cx="5248656" cy="4498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81912"/>
            <a:ext cx="5248656" cy="10972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6464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Single public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Random split does not establish performance on a new hospital or population.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Moderate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7413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At 0.5 cutoff, about 3 in 10 disease-positive cases are missed.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7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BP-heavy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3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Systolic pressure dominates; some BP bands are much harder than others.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Untuned configurations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6519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Manual settings were used; systematic cross-validation remains future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81912"/>
            <a:ext cx="5394960" cy="449884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72200" y="1581912"/>
            <a:ext cx="5394960" cy="109728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286000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2860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Validate externally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542032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Test on a separate dataset and population.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081528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08152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Tune and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337560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Use cross-validation and a documented search over hyperparameters.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877056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77056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Calibrate 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133088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Choose a cutoff based on the cost of missed cases vs false alarms.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672583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672583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Improve explainability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928616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Add SHAP-style explanations and evaluate fairness across groups.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6199632"/>
            <a:ext cx="10945368" cy="219456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6217920"/>
            <a:ext cx="10515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06464"/>
                </a:solidFill>
                <a:latin typeface="Aptos"/>
              </a:rPr>
              <a:t>IMPORTANT: Educational prototype only. It must not be used to diagnose or rule out cardiovascular disease.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10  /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ptos"/>
              </a:rPr>
              <a:t>A reproducible baseline—not a clinical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1D0DD"/>
                </a:solidFill>
                <a:latin typeface="Aptos"/>
              </a:rPr>
              <a:t>The contribution is the end-to-end workflow: cleaned data, fair comparison, interpretation and a working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A99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Reliable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68,523 cleaned records; stratified 70/15/15 split; test kept separate.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Measured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Gradient Boosting: 73.7% accuracy and ROC-AUC 0.802 on held-out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646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Actionable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External validation and threshold calibration matter more than tiny score gaps.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566160"/>
            <a:ext cx="10927080" cy="0"/>
          </a:xfrm>
          <a:prstGeom prst="line">
            <a:avLst/>
          </a:prstGeom>
          <a:ln w="12700">
            <a:solidFill>
              <a:srgbClr val="315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776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SELECTED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418338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14223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Slime, K. et al. (2024). Toward a model to predict cardiovascular disease risk using a machine learning approach. IAENG Int. J. Computer Science.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459486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55371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Zhou, C. et al. (2024). A comprehensive review of deep learning-based models for heart disease prediction. Artificial Intelligence Review, 57, 263.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500634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96519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Deng, L. et al. (2025). An interpretable LightGBM model for predicting coronary heart disease. PLoS ONE, 20(9), e0330377.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541782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3766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Dataset: Ulianova, S. Cardiovascular Disease dataset (70,000 records), Kaggle. Implementation: scikit-learn, pandas, Streamlit.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98464"/>
            <a:ext cx="74980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FFFFFF"/>
                </a:solidFill>
                <a:latin typeface="Aptos"/>
              </a:rPr>
              <a:t>Thank you  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7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298AB"/>
                </a:solidFill>
                <a:latin typeface="Aptos"/>
              </a:rPr>
              <a:t>CARDIOVASCULAR DISEASE PREDICTION  / 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298A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1526</Words>
  <Application>Microsoft Office PowerPoint</Application>
  <PresentationFormat>Widescreen</PresentationFormat>
  <Paragraphs>287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Mandavagde</cp:lastModifiedBy>
  <cp:revision>3</cp:revision>
  <dcterms:created xsi:type="dcterms:W3CDTF">2013-01-27T09:14:16Z</dcterms:created>
  <dcterms:modified xsi:type="dcterms:W3CDTF">2026-10-19T08:29:24Z</dcterms:modified>
  <cp:category/>
</cp:coreProperties>
</file>